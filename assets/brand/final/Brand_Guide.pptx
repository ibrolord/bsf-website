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5E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wizardly-focused-maxwell/mnt/Big Siter FOundation/Logo Assets/A - Sheltering Tree/Logo_A_Mark_White_512p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429000" y="457200"/>
            <a:ext cx="2286000" cy="2743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 Sister Foundation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57200" y="3749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A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Guidelines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400" kern="0" dirty="0">
                <a:solidFill>
                  <a:srgbClr val="8BA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ROOTED. PRESENT. PROTECTIVE.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Story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47548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Sister Foundation is a Lagos-based nonprofit supporting vulnerable children (ages 5–17), girls and young women (ages 13–30), and women in crisis.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provide food, scholarships, counselling, and safe spaces — giving the disenfranchised access to resources so they can become community-level raisers, not just recipients.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three pathways serve those from difficult backgrounds, those with special needs and disabilities, and gifted children identified by academic merit.</a:t>
            </a:r>
            <a:endParaRPr lang="en-US" sz="1400" dirty="0"/>
          </a:p>
        </p:txBody>
      </p:sp>
      <p:pic>
        <p:nvPicPr>
          <p:cNvPr id="4" name="Image 0" descr="/sessions/wizardly-focused-maxwell/mnt/Big Siter FOundation/Logo Assets/A - Sheltering Tree/Logo_A_Full_Green_800p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731520"/>
            <a:ext cx="2743200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4572000"/>
            <a:ext cx="2286000" cy="54864"/>
          </a:xfrm>
          <a:prstGeom prst="rect">
            <a:avLst/>
          </a:prstGeom>
          <a:solidFill>
            <a:srgbClr val="D4A96A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5E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Essence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D4A9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pPr algn="ctr" indent="0" marL="0">
              <a:buNone/>
            </a:pPr>
            <a:r>
              <a:rPr lang="en-US" sz="3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Rooted. Present. Protective.</a:t>
            </a:r>
            <a:pPr algn="ctr" indent="0" marL="0">
              <a:buNone/>
            </a:pPr>
            <a:r>
              <a:rPr lang="en-US" sz="6000" dirty="0">
                <a:solidFill>
                  <a:srgbClr val="D4A9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560320" cy="2286000"/>
          </a:xfrm>
          <a:prstGeom prst="rect">
            <a:avLst/>
          </a:prstGeom>
          <a:solidFill>
            <a:srgbClr val="3A2A1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5146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A9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Rooted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community, in truth, in the soil of Lagos. Like the iroko tree, our strength comes from deep roots.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74720" y="2377440"/>
            <a:ext cx="2560320" cy="2286000"/>
          </a:xfrm>
          <a:prstGeom prst="rect">
            <a:avLst/>
          </a:prstGeom>
          <a:solidFill>
            <a:srgbClr val="3A2A1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0" y="25146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A9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657600" y="301752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up consistently. Not a one-time gift but a lasting presence — the big sister who is always there.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2377440"/>
            <a:ext cx="2560320" cy="2286000"/>
          </a:xfrm>
          <a:prstGeom prst="rect">
            <a:avLst/>
          </a:prstGeom>
          <a:solidFill>
            <a:srgbClr val="3A2A1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25146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A9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Protective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92240" y="301752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safe spaces where the vulnerable can grow, heal, and ultimately rise to lift their own communities.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Logo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27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Sheltering Tree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43891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mark is inspired by the iroko tree — a towering, protective hardwood native to West Africa. Its wide canopy provides shelter, and its deep roots anchor communities. The overlapping ellipses evoke organic growth and the layered care we provide.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8BA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</a:t>
            </a:r>
            <a:endParaRPr lang="en-US" sz="1000" dirty="0"/>
          </a:p>
        </p:txBody>
      </p:sp>
      <p:pic>
        <p:nvPicPr>
          <p:cNvPr id="6" name="Image 0" descr="/sessions/wizardly-focused-maxwell/mnt/Big Siter FOundation/Logo Assets/A - Sheltering Tree/Logo_A_Mark_Green_512p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3566160"/>
            <a:ext cx="1371600" cy="1371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10896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8BA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Lockup</a:t>
            </a:r>
            <a:endParaRPr lang="en-US" sz="1000" dirty="0"/>
          </a:p>
        </p:txBody>
      </p:sp>
      <p:pic>
        <p:nvPicPr>
          <p:cNvPr id="8" name="Image 1" descr="/sessions/wizardly-focused-maxwell/mnt/Big Siter FOundation/Logo Assets/A - Sheltering Tree/Logo_A_Full_Green_800p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83280" y="3520440"/>
            <a:ext cx="2011680" cy="1463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303520" y="32004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8BA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</a:t>
            </a:r>
            <a:endParaRPr lang="en-US" sz="1000" dirty="0"/>
          </a:p>
        </p:txBody>
      </p:sp>
      <p:pic>
        <p:nvPicPr>
          <p:cNvPr id="10" name="Image 2" descr="/sessions/wizardly-focused-maxwell/horiz_fix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03520" y="3749040"/>
            <a:ext cx="338328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Logo Variations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657600" cy="1828800"/>
          </a:xfrm>
          <a:prstGeom prst="rect">
            <a:avLst/>
          </a:prstGeom>
          <a:solidFill>
            <a:srgbClr val="FF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4" name="Image 0" descr="/sessions/wizardly-focused-maxwell/mnt/Big Siter FOundation/Logo Assets/A - Sheltering Tree/Logo_A_Full_Green_800p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280160"/>
            <a:ext cx="2743200" cy="1554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Green on Light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4846320" y="1188720"/>
            <a:ext cx="3657600" cy="1828800"/>
          </a:xfrm>
          <a:prstGeom prst="rect">
            <a:avLst/>
          </a:prstGeom>
          <a:solidFill>
            <a:srgbClr val="FF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1" descr="/sessions/wizardly-focused-maxwell/mnt/Big Siter FOundation/Logo Assets/A - Sheltering Tree/Logo_A_Full_Brown_800p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03520" y="1280160"/>
            <a:ext cx="2743200" cy="1554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84632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Brown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3474720"/>
            <a:ext cx="3657600" cy="1828800"/>
          </a:xfrm>
          <a:prstGeom prst="rect">
            <a:avLst/>
          </a:prstGeom>
          <a:solidFill>
            <a:srgbClr val="2D5E4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0" name="Image 2" descr="/sessions/wizardly-focused-maxwell/mnt/Big Siter FOundation/Logo Assets/A - Sheltering Tree/Logo_A_Full_OnGreen_800px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97280" y="3566160"/>
            <a:ext cx="2743200" cy="1554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40080" y="534924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algn="l"/>
          </a:lstStyle>
          <a:p>
            <a:pPr algn="ctr" indent="0" marL="0">
              <a:buNone/>
            </a:pPr>
            <a:r>
              <a:rPr lang="en-US" sz="10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Reversed — On Green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4846320" y="3474720"/>
            <a:ext cx="3657600" cy="1828800"/>
          </a:xfrm>
          <a:prstGeom prst="rect">
            <a:avLst/>
          </a:prstGeom>
          <a:solidFill>
            <a:srgbClr val="3A2A1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3" name="Image 3" descr="/sessions/wizardly-focused-maxwell/mnt/Big Siter FOundation/Logo Assets/A - Sheltering Tree/Logo_A_Full_White_800px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03520" y="3566160"/>
            <a:ext cx="2743200" cy="155448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846320" y="534924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algn="l"/>
          </a:lstStyle>
          <a:p>
            <a:pPr algn="ctr" indent="0" marL="0">
              <a:buNone/>
            </a:pPr>
            <a:r>
              <a:rPr lang="en-US" sz="10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Reversed — White on Brown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Color Palette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2560320" cy="1097280"/>
          </a:xfrm>
          <a:prstGeom prst="rect">
            <a:avLst/>
          </a:prstGeom>
          <a:solidFill>
            <a:srgbClr val="2D5E4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#2D5E40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Iroko Green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A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brand color. Headings, logo, buttons.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4720" y="1188720"/>
            <a:ext cx="2560320" cy="1097280"/>
          </a:xfrm>
          <a:prstGeom prst="rect">
            <a:avLst/>
          </a:prstGeom>
          <a:solidFill>
            <a:srgbClr val="3A2A1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#3A2A1F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74720" y="23317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Brown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26060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A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Grounding. Body text, dark backgrounds.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309360" y="1188720"/>
            <a:ext cx="2560320" cy="1097280"/>
          </a:xfrm>
          <a:prstGeom prst="rect">
            <a:avLst/>
          </a:prstGeom>
          <a:solidFill>
            <a:srgbClr val="C2734C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0936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#C2734C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23317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Terracotta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6060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A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 for warmth. Highlights, CTAs.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0080" y="3154680"/>
            <a:ext cx="2560320" cy="1097280"/>
          </a:xfrm>
          <a:prstGeom prst="rect">
            <a:avLst/>
          </a:prstGeom>
          <a:solidFill>
            <a:srgbClr val="D4A96A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794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2A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#D4A96A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42976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 Gold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5720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A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accent. Taglines, decorative.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4720" y="3154680"/>
            <a:ext cx="2560320" cy="1097280"/>
          </a:xfrm>
          <a:prstGeom prst="rect">
            <a:avLst/>
          </a:prstGeom>
          <a:solidFill>
            <a:srgbClr val="8BAF8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474720" y="3794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2A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#8BAF8E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74720" y="42976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Light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74720" y="45720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A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green. Backgrounds, hover states.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309360" y="3154680"/>
            <a:ext cx="2560320" cy="1097280"/>
          </a:xfrm>
          <a:prstGeom prst="rect">
            <a:avLst/>
          </a:prstGeom>
          <a:solidFill>
            <a:srgbClr val="FF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309360" y="3794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2A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#FFF8F0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09360" y="42976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Cream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09360" y="45720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A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backgrounds. Clean, warm canvas.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Typography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3716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BA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 Font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14400" y="169164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Georgia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A2A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Aa Bb Cc Dd Ee Ff Gg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6517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A2A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Hh Ii Jj Kk Ll Mm Nn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017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A2A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Oo Pp Qq Rr Ss Tt Uu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A2A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Vv Ww Xx Yy Zz 0–9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27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for: Headlines, titles, logo wordmark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120640" y="13716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BA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Font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5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Calibri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120640" y="2286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 Bb Cc Dd Ee Ff Gg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120640" y="26517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 Ii Jj Kk Ll Mm Nn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20640" y="3017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 Pp Qq Rr Ss Tt Uu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12064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Vv Ww Xx Yy Zz 0–9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12064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27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for: Body copy, captions, UI text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BA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Scale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983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5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554480" y="498348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36–44pt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743200" y="4983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5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0" y="498348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20–24pt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4983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5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760720" y="498348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14–16pt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49440" y="4983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5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863840" y="498348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10–12pt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D5E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Voice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4A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sound — in every email, post, flyer, and conversation.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7863840" cy="777240"/>
          </a:xfrm>
          <a:prstGeom prst="rect">
            <a:avLst/>
          </a:prstGeom>
          <a:solidFill>
            <a:srgbClr val="3A2A1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459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9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Grounded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560320" y="160020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A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Do: </a:t>
            </a:r>
            <a:pPr indent="0" marL="0">
              <a:buNone/>
            </a:pPr>
            <a:r>
              <a:rPr lang="en-US" sz="1100" dirty="0">
                <a:solidFill>
                  <a:srgbClr val="FF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simply and with conviction. Use real stories.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0" y="160020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7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Don't: </a:t>
            </a:r>
            <a:pPr indent="0" marL="0">
              <a:buNone/>
            </a:pPr>
            <a:r>
              <a:rPr lang="en-US" sz="1100" dirty="0">
                <a:solidFill>
                  <a:srgbClr val="FF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Overpromise or use hype language.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7863840" cy="777240"/>
          </a:xfrm>
          <a:prstGeom prst="rect">
            <a:avLst/>
          </a:prstGeom>
          <a:solidFill>
            <a:srgbClr val="3A2A1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25146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9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560320" y="246888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A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Do: </a:t>
            </a:r>
            <a:pPr indent="0" marL="0">
              <a:buNone/>
            </a:pPr>
            <a:r>
              <a:rPr lang="en-US" sz="1100" dirty="0">
                <a:solidFill>
                  <a:srgbClr val="FF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caring, empathetic language. Address people directly.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0" y="246888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7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Don't: </a:t>
            </a:r>
            <a:pPr indent="0" marL="0">
              <a:buNone/>
            </a:pPr>
            <a:r>
              <a:rPr lang="en-US" sz="1100" dirty="0">
                <a:solidFill>
                  <a:srgbClr val="FF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clinical or distant.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291840"/>
            <a:ext cx="7863840" cy="777240"/>
          </a:xfrm>
          <a:prstGeom prst="rect">
            <a:avLst/>
          </a:prstGeom>
          <a:solidFill>
            <a:srgbClr val="3A2A1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" y="33832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9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Protective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560320" y="333756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A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Do: </a:t>
            </a:r>
            <a:pPr indent="0" marL="0">
              <a:buNone/>
            </a:pPr>
            <a:r>
              <a:rPr lang="en-US" sz="1100" dirty="0">
                <a:solidFill>
                  <a:srgbClr val="FF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 the safety and dignity of those we serve.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0" y="333756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7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Don't: </a:t>
            </a:r>
            <a:pPr indent="0" marL="0">
              <a:buNone/>
            </a:pPr>
            <a:r>
              <a:rPr lang="en-US" sz="1100" dirty="0">
                <a:solidFill>
                  <a:srgbClr val="FF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pity or victimizing language.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160520"/>
            <a:ext cx="7863840" cy="777240"/>
          </a:xfrm>
          <a:prstGeom prst="rect">
            <a:avLst/>
          </a:prstGeom>
          <a:solidFill>
            <a:srgbClr val="3A2A1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425196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9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Empowering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560320" y="420624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A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Do: </a:t>
            </a:r>
            <a:pPr indent="0" marL="0">
              <a:buNone/>
            </a:pPr>
            <a:r>
              <a:rPr lang="en-US" sz="1100" dirty="0">
                <a:solidFill>
                  <a:srgbClr val="FF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beneficiaries as future leaders, not recipients.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420624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7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Don't: </a:t>
            </a:r>
            <a:pPr indent="0" marL="0">
              <a:buNone/>
            </a:pPr>
            <a:r>
              <a:rPr lang="en-US" sz="1100" dirty="0">
                <a:solidFill>
                  <a:srgbClr val="FF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dependency narratives.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Logo Usage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5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Space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a minimum clear space equal to the height of the trunk around all sides of the logo. This ensures the mark breathes and retains impact at any size.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5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Size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Mark: 24px / 0.25in minimum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lockup: 120px / 1.25in minimum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Horizontal: 200px / 2in minimum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0" y="1097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5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463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5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1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approved color combinations only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0" y="1783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5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1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on solid, clean backgrounds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5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1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full lockup when space permits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0" y="2423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5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1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to the green version as primary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2926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7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3291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7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1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Stretch, rotate, or distort the mark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7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1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on busy photos without overlay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3931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7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1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logo colors or opacity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7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1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effects like drop shadows or glows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Three Pathways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2560320" cy="73152"/>
          </a:xfrm>
          <a:prstGeom prst="rect">
            <a:avLst/>
          </a:prstGeom>
          <a:solidFill>
            <a:srgbClr val="2D5E4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353312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508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2A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Difficult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A2A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Backgrounds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mothers, survivors, and those from broken systems. We meet them where they are with food, counselling, and safe spaces.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0" y="1280160"/>
            <a:ext cx="2560320" cy="73152"/>
          </a:xfrm>
          <a:prstGeom prst="rect">
            <a:avLst/>
          </a:prstGeom>
          <a:solidFill>
            <a:srgbClr val="C2734C"/>
          </a:solidFill>
          <a:ln/>
        </p:spPr>
      </p:sp>
      <p:sp>
        <p:nvSpPr>
          <p:cNvPr id="9" name="Shape 7"/>
          <p:cNvSpPr/>
          <p:nvPr/>
        </p:nvSpPr>
        <p:spPr>
          <a:xfrm>
            <a:off x="3474720" y="1353312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0" y="1508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273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657600" y="201168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2A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Special Needs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A2A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Disabilities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0" y="283464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and young people with disabilities who need tailored support, advocacy, and access to opportunity.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1280160"/>
            <a:ext cx="2560320" cy="73152"/>
          </a:xfrm>
          <a:prstGeom prst="rect">
            <a:avLst/>
          </a:prstGeom>
          <a:solidFill>
            <a:srgbClr val="D4A96A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1353312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92240" y="1508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9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492240" y="201168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2A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Gifted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A2A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Children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92240" y="283464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Academically gifted youth identified by merit. We provide scholarships and mentorship to ensure talent isn't wasted by circumstance.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5E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Radical Transparency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A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naira mapped. Every child visible.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657600" cy="2560320"/>
          </a:xfrm>
          <a:prstGeom prst="rect">
            <a:avLst/>
          </a:prstGeom>
          <a:solidFill>
            <a:srgbClr val="3A2A1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9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 Donation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D4A9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Mapping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donation is mapped directly to a specific child. No pooled funds. Donors see exactly where their money goes — who it feeds, who it educates, who it protects.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1645920"/>
            <a:ext cx="3657600" cy="2560320"/>
          </a:xfrm>
          <a:prstGeom prst="rect">
            <a:avLst/>
          </a:prstGeom>
          <a:solidFill>
            <a:srgbClr val="3A2A1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12064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9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D4A9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Ledger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120640" y="256032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financial flows are recorded in a public ledger visible to everyone. Trust isn't asked for — it's earned through complete openness about how every resource is allocated.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343400"/>
            <a:ext cx="7863840" cy="502920"/>
          </a:xfrm>
          <a:prstGeom prst="rect">
            <a:avLst/>
          </a:prstGeom>
          <a:solidFill>
            <a:srgbClr val="3A2A1F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370832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D4A9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just recipients — future community raisers.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A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wizardly-focused-maxwell/mnt/Big Siter FOundation/Logo Assets/A - Sheltering Tree/Logo_A_Mark_White_512p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429000" y="457200"/>
            <a:ext cx="2286000" cy="2560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 Sister Foundation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400" kern="0" dirty="0">
                <a:solidFill>
                  <a:srgbClr val="D4A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ROOTED. PRESENT. PROTECTIVE.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200400" y="4114800"/>
            <a:ext cx="2743200" cy="27432"/>
          </a:xfrm>
          <a:prstGeom prst="rect">
            <a:avLst/>
          </a:prstGeom>
          <a:solidFill>
            <a:srgbClr val="D4A96A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4A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brand assets, questions, or partnership inquiries: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princebolajibreeze@gmail.com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Sister Foundation — Brand Guide</dc:title>
  <dc:subject>PptxGenJS Presentation</dc:subject>
  <dc:creator>Big Sister Foundation</dc:creator>
  <cp:lastModifiedBy>Big Sister Foundation</cp:lastModifiedBy>
  <cp:revision>1</cp:revision>
  <dcterms:created xsi:type="dcterms:W3CDTF">2026-04-01T16:32:10Z</dcterms:created>
  <dcterms:modified xsi:type="dcterms:W3CDTF">2026-04-01T16:32:10Z</dcterms:modified>
</cp:coreProperties>
</file>