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D5E40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36576" cy="5143500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5" name="Text 3"/>
          <p:cNvSpPr/>
          <p:nvPr/>
        </p:nvSpPr>
        <p:spPr>
          <a:xfrm>
            <a:off x="4206240" y="25603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Sister</a:t>
            </a:r>
            <a:endParaRPr lang="en-US" sz="4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20624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Identity Guide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1097280" cy="1097280"/>
          </a:xfrm>
          <a:prstGeom prst="ellipse">
            <a:avLst/>
          </a:prstGeom>
          <a:solidFill>
            <a:srgbClr val="2D5E40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914400"/>
            <a:ext cx="1005840" cy="1005840"/>
          </a:xfrm>
          <a:prstGeom prst="ellipse">
            <a:avLst/>
          </a:prstGeom>
          <a:solidFill>
            <a:srgbClr val="8BAF8E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640080"/>
            <a:ext cx="914400" cy="914400"/>
          </a:xfrm>
          <a:prstGeom prst="ellipse">
            <a:avLst/>
          </a:prstGeom>
          <a:solidFill>
            <a:srgbClr val="2D5E40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965960"/>
            <a:ext cx="54864" cy="457200"/>
          </a:xfrm>
          <a:prstGeom prst="rect">
            <a:avLst/>
          </a:prstGeom>
          <a:solidFill>
            <a:srgbClr val="3A2A1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5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Story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4114800" y="3017520"/>
            <a:ext cx="914400" cy="0"/>
          </a:xfrm>
          <a:prstGeom prst="line">
            <a:avLst/>
          </a:prstGeom>
          <a:noFill/>
          <a:ln w="25400">
            <a:solidFill>
              <a:srgbClr val="D4A9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all began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2D5E40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“I’ve always seen myself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an iroko tree.”</a:t>
            </a:r>
            <a:endParaRPr lang="en-US" sz="2800" dirty="0"/>
          </a:p>
          <a:p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B8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Rooted and present. A place of cover. A place of protection.</a:t>
            </a:r>
            <a:endParaRPr lang="en-US" sz="28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Founder, Big Sister Foundation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1691640"/>
            <a:ext cx="914400" cy="0"/>
          </a:xfrm>
          <a:prstGeom prst="line">
            <a:avLst/>
          </a:prstGeom>
          <a:noFill/>
          <a:ln w="19050">
            <a:solidFill>
              <a:srgbClr val="D4A9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Sister Foundation was born from real life, not an idea on paper. It grew from the instinct to watch over, to listen, to help where help was missing.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iroko tree is one of Africa’s most revered trees — massive, enduring, and deeply rooted. It provides shade and shelter. It stands through storms.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serve through three clear pathways: support for those from difficult backgrounds, care for children with special needs, and opportunity for gifted potential.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26280" y="2286000"/>
            <a:ext cx="0" cy="2286000"/>
          </a:xfrm>
          <a:prstGeom prst="line">
            <a:avLst/>
          </a:prstGeom>
          <a:noFill/>
          <a:ln w="6350">
            <a:solidFill>
              <a:srgbClr val="D4A9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21945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model is built on radical transparency. No pooled funds. No ambiguity. Donors see exactly where every naira goes. The public can verify every flow.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our deepest purpose is transformation. We do not create dependence. We invest in people so they can become the ones who raise their communities.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about saving. It is about showing up, staying, and building the next generation of community raisers.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Sister Foundation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6350">
            <a:solidFill>
              <a:srgbClr val="D4A96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4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ESSENCE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114800" y="749808"/>
            <a:ext cx="914400" cy="0"/>
          </a:xfrm>
          <a:prstGeom prst="line">
            <a:avLst/>
          </a:prstGeom>
          <a:noFill/>
          <a:ln w="12700">
            <a:solidFill>
              <a:srgbClr val="D4A9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disenfranchised — children from difficult backgrounds, young people with special needs, and gifted kids without opportunity — Big Sister Foundation provides the resources, transparency, and steady presence that transforms recipients into community-level raisers.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3931920"/>
            <a:ext cx="1280160" cy="0"/>
          </a:xfrm>
          <a:prstGeom prst="line">
            <a:avLst/>
          </a:prstGeom>
          <a:noFill/>
          <a:ln w="19050">
            <a:solidFill>
              <a:srgbClr val="D4A9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273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Rooted. Present. Protective.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57200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PROMISE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not alone. We are here. And we are staying.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2D5E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32888"/>
            <a:ext cx="9144000" cy="54864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587752"/>
            <a:ext cx="9144000" cy="2555748"/>
          </a:xfrm>
          <a:prstGeom prst="rect">
            <a:avLst/>
          </a:prstGeom>
          <a:solidFill>
            <a:srgbClr val="FAF5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give the disenfranchised access to resources that enable them to become community-level raisers.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three clear pathways — difficult backgrounds, special needs, and gifted potential — with every donation mapped directly to a child on a public ledger.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Nigeria — and eventually an Africa — where every disenfranchised child, regardless of background or ability, has a clear pathway to resources. Where cycles of neglect are broken through radical transparency, and today’s recipients become tomorrow’s community raisers.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17320" y="4617720"/>
            <a:ext cx="164592" cy="164592"/>
          </a:xfrm>
          <a:prstGeom prst="ellipse">
            <a:avLst/>
          </a:prstGeom>
          <a:solidFill>
            <a:srgbClr val="2D5E4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880360" y="4617720"/>
            <a:ext cx="164592" cy="164592"/>
          </a:xfrm>
          <a:prstGeom prst="ellipse">
            <a:avLst/>
          </a:prstGeom>
          <a:solidFill>
            <a:srgbClr val="C2734C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Impact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343400" y="4617720"/>
            <a:ext cx="164592" cy="164592"/>
          </a:xfrm>
          <a:prstGeom prst="ellipse">
            <a:avLst/>
          </a:prstGeom>
          <a:solidFill>
            <a:srgbClr val="8BAF8E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806440" y="4617720"/>
            <a:ext cx="164592" cy="164592"/>
          </a:xfrm>
          <a:prstGeom prst="ellipse">
            <a:avLst/>
          </a:prstGeom>
          <a:solidFill>
            <a:srgbClr val="D4A96A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269480" y="4617720"/>
            <a:ext cx="164592" cy="164592"/>
          </a:xfrm>
          <a:prstGeom prst="ellipse">
            <a:avLst/>
          </a:prstGeom>
          <a:solidFill>
            <a:srgbClr val="B87D6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800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Empowerment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pathways. Direct impact. Full transparency.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PATHWAYS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54864" cy="868680"/>
          </a:xfrm>
          <a:prstGeom prst="rect">
            <a:avLst/>
          </a:prstGeom>
          <a:solidFill>
            <a:srgbClr val="2D5E4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1673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 Backgrounds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mothers, survivors, children from broken systems. We meet them where they are with food, shelter support, counselling, and a steady presence.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06040"/>
            <a:ext cx="54864" cy="868680"/>
          </a:xfrm>
          <a:prstGeom prst="rect">
            <a:avLst/>
          </a:prstGeom>
          <a:solidFill>
            <a:srgbClr val="C2734C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2651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273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8680" y="2679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Needs &amp; Disabilities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9535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Children and young people with disabilities who are too often invisible. We provide access to care, adaptive education, therapy, and community inclusion.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11880"/>
            <a:ext cx="54864" cy="868680"/>
          </a:xfrm>
          <a:prstGeom prst="rect">
            <a:avLst/>
          </a:prstGeom>
          <a:solidFill>
            <a:srgbClr val="8BAF8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3657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8BA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68680" y="3685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Gifted Potential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9593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High-performing students identified by academic achievement who lack the resources to reach their potential. Scholarships, mentorship, and opportunity.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TRANSPARENCY PROMISE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5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gives  →  Mapped to child  →  Public ledger  →  Community raiser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5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"/>
            <a:ext cx="1828800" cy="182880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1371600" cy="137160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1645920" cy="1645920"/>
          </a:xfrm>
          <a:prstGeom prst="ellipse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RADICAL TRANSPARENCY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naira. Every child. Every outcome. Visible to all.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pooled funds. No ambiguity. Our public ledger tracks every donation from the moment it arrives to the impact it creates.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463040" cy="10058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743200" y="2103120"/>
            <a:ext cx="1463040" cy="10058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2194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73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Mapped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273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2103120"/>
            <a:ext cx="1463040" cy="10058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194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A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BA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Ledger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3317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49440" y="2103120"/>
            <a:ext cx="1463040" cy="100584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19456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LEDGER ENTRY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008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3736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73736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 M.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34640" y="3886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₦45,000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93192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931920" y="3886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Amina, 11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2064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12064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fees + supplies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944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949440" y="3886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✓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3639312"/>
            <a:ext cx="7680960" cy="0"/>
          </a:xfrm>
          <a:prstGeom prst="line">
            <a:avLst/>
          </a:prstGeom>
          <a:noFill/>
          <a:ln w="6350">
            <a:solidFill>
              <a:srgbClr val="D4A9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114800"/>
            <a:ext cx="7680960" cy="0"/>
          </a:xfrm>
          <a:prstGeom prst="line">
            <a:avLst/>
          </a:prstGeom>
          <a:noFill/>
          <a:ln w="3810">
            <a:solidFill>
              <a:srgbClr val="D4A9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back-office report. This is a public commitment.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Sister Foundation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Voice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  +  THE ADVOCATE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does not shout. She shows up. She does not perform care. She provides it. This duality — gentle strength — defines every interaction the brand has with the world.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5720" cy="320040"/>
          </a:xfrm>
          <a:prstGeom prst="rect">
            <a:avLst/>
          </a:prstGeom>
          <a:solidFill>
            <a:srgbClr val="2D5E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562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speak from experience, never theory. Our words have roots.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2075688"/>
            <a:ext cx="45720" cy="320040"/>
          </a:xfrm>
          <a:prstGeom prst="rect">
            <a:avLst/>
          </a:prstGeom>
          <a:solidFill>
            <a:srgbClr val="C2734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756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tone wraps around you. Firm when needed, always with care.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459736"/>
            <a:ext cx="45720" cy="320040"/>
          </a:xfrm>
          <a:prstGeom prst="rect">
            <a:avLst/>
          </a:prstGeom>
          <a:solidFill>
            <a:srgbClr val="8BAF8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597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but Powerful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62432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say what matters in few words. Clarity is kindness.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2843784"/>
            <a:ext cx="45720" cy="320040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437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Reassuring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00837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remind people they are not alone. Our presence is the message.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3227832"/>
            <a:ext cx="45720" cy="320040"/>
          </a:xfrm>
          <a:prstGeom prst="rect">
            <a:avLst/>
          </a:prstGeom>
          <a:solidFill>
            <a:srgbClr val="B87D6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278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9242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lead with heart. No distance in our language, only closeness.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45720" cy="320040"/>
          </a:xfrm>
          <a:prstGeom prst="rect">
            <a:avLst/>
          </a:prstGeom>
          <a:solidFill>
            <a:srgbClr val="3A2A1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11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77647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word serves the person hearing it, not the one saying it.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5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4069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SAY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 are not alone.”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4297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saved them.”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4988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are here.”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“These poor people…”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700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 matter.”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47000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“Look what we did.”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“This is your space.”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4901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“Donate now!”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VOICE SOUNDS ACROSS CONTEXTS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2D5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5720" cy="457200"/>
          </a:xfrm>
          <a:prstGeom prst="rect">
            <a:avLst/>
          </a:prstGeom>
          <a:solidFill>
            <a:srgbClr val="2D5E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solidFill>
            <a:srgbClr val="2D5E40">
              <a:alpha val="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80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“She was 9 when she first came to us. Quiet. Watchful. Today she’s 14, in school, and writing poetry about the future. We didn’t save her. We showed up. She did the rest.”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61848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Personal. Grounded. Centres the person.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COMMUNICATION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45720" cy="457200"/>
          </a:xfrm>
          <a:prstGeom prst="rect">
            <a:avLst/>
          </a:prstGeom>
          <a:solidFill>
            <a:srgbClr val="C273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solidFill>
            <a:srgbClr val="C2734C">
              <a:alpha val="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057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“Your support this quarter helped 34 children stay in school and connected 12 women to counselling. No cameras. No fanfare. Just consistent care.”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239572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Transparent. Warm. Credits the donor.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BA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OUTREACH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45720" cy="457200"/>
          </a:xfrm>
          <a:prstGeom prst="rect">
            <a:avLst/>
          </a:prstGeom>
          <a:solidFill>
            <a:srgbClr val="8BAF8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solidFill>
            <a:srgbClr val="8BAF8E">
              <a:alpha val="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834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you or someone you know needs a safe space, we are here. No questions first. No judgement. Just safety.”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" y="317296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Reassuring. Low-barrier. Leads with safety.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D4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ENGAGEMENT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45720" cy="457200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611880"/>
            <a:ext cx="7863840" cy="457200"/>
          </a:xfrm>
          <a:prstGeom prst="rect">
            <a:avLst/>
          </a:prstGeom>
          <a:solidFill>
            <a:srgbClr val="D4A96A">
              <a:alpha val="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6118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“Big Sister Foundation partners with organisations who believe that protection is a right, not a privilege.”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2960" y="395020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Professional. Values-led.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40080" y="4389120"/>
            <a:ext cx="45720" cy="457200"/>
          </a:xfrm>
          <a:prstGeom prst="rect">
            <a:avLst/>
          </a:prstGeom>
          <a:solidFill>
            <a:srgbClr val="B87D6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solidFill>
            <a:srgbClr val="B87D6B">
              <a:alpha val="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3891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“Remember: we are not here to fix people. We are here to stand beside them.”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" y="4727448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Caring. Honest. Models the values.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35808" cy="5143500"/>
          </a:xfrm>
          <a:prstGeom prst="rect">
            <a:avLst/>
          </a:prstGeom>
          <a:solidFill>
            <a:srgbClr val="2D5E40"/>
          </a:solidFill>
          <a:ln/>
        </p:spPr>
      </p:sp>
      <p:sp>
        <p:nvSpPr>
          <p:cNvPr id="3" name="Shape 1"/>
          <p:cNvSpPr/>
          <p:nvPr/>
        </p:nvSpPr>
        <p:spPr>
          <a:xfrm>
            <a:off x="3054096" y="0"/>
            <a:ext cx="3035808" cy="5143500"/>
          </a:xfrm>
          <a:prstGeom prst="rect">
            <a:avLst/>
          </a:prstGeom>
          <a:solidFill>
            <a:srgbClr val="C2734C"/>
          </a:solidFill>
          <a:ln/>
        </p:spPr>
      </p:sp>
      <p:sp>
        <p:nvSpPr>
          <p:cNvPr id="4" name="Shape 2"/>
          <p:cNvSpPr/>
          <p:nvPr/>
        </p:nvSpPr>
        <p:spPr>
          <a:xfrm>
            <a:off x="6108192" y="0"/>
            <a:ext cx="3035808" cy="5143500"/>
          </a:xfrm>
          <a:prstGeom prst="rect">
            <a:avLst/>
          </a:prstGeom>
          <a:solidFill>
            <a:srgbClr val="3A2A1F"/>
          </a:solidFill>
          <a:ln/>
        </p:spPr>
      </p:sp>
      <p:sp>
        <p:nvSpPr>
          <p:cNvPr id="5" name="Shape 3"/>
          <p:cNvSpPr/>
          <p:nvPr/>
        </p:nvSpPr>
        <p:spPr>
          <a:xfrm>
            <a:off x="3026664" y="0"/>
            <a:ext cx="36576" cy="5143500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6" name="Shape 4"/>
          <p:cNvSpPr/>
          <p:nvPr/>
        </p:nvSpPr>
        <p:spPr>
          <a:xfrm>
            <a:off x="6080760" y="0"/>
            <a:ext cx="36576" cy="5143500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Colour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74320" y="4389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Iroko Green  ·  #2D5E40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Terracotta  ·  #C2734C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21792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Brown  ·  #3A2A1F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Specifications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377440" cy="1005840"/>
          </a:xfrm>
          <a:prstGeom prst="rect">
            <a:avLst/>
          </a:prstGeom>
          <a:solidFill>
            <a:srgbClr val="2D5E4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2103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Iroko Green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#2D5E40  ·  RGB 45, 94, 64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78, 27, 62, 53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logo, primary UI.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377440" cy="1005840"/>
          </a:xfrm>
          <a:prstGeom prst="rect">
            <a:avLst/>
          </a:prstGeom>
          <a:solidFill>
            <a:srgbClr val="C2734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103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Terracotta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#C2734C  ·  RGB 194, 115, 76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12, 55, 65,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383280" y="2651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Accents, CTAs, links.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377440" cy="1005840"/>
          </a:xfrm>
          <a:prstGeom prst="rect">
            <a:avLst/>
          </a:prstGeom>
          <a:solidFill>
            <a:srgbClr val="3A2A1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1031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Brown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2304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#3A2A1F  ·  RGB 58, 42, 31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CMYK 42, 52, 60, 72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126480" y="2651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body text. Replaces black.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2971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PALETTE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1371600" cy="685800"/>
          </a:xfrm>
          <a:prstGeom prst="rect">
            <a:avLst/>
          </a:prstGeom>
          <a:solidFill>
            <a:srgbClr val="D4A96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9319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Gold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40080" y="407822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#D4A96A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286000" y="3200400"/>
            <a:ext cx="1371600" cy="685800"/>
          </a:xfrm>
          <a:prstGeom prst="rect">
            <a:avLst/>
          </a:prstGeom>
          <a:solidFill>
            <a:srgbClr val="8BAF8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0" y="39319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286000" y="407822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#8BAF8E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931920" y="3200400"/>
            <a:ext cx="1371600" cy="685800"/>
          </a:xfrm>
          <a:prstGeom prst="rect">
            <a:avLst/>
          </a:prstGeom>
          <a:solidFill>
            <a:srgbClr val="E8C4B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31920" y="39319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Blush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31920" y="407822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#E8C4B0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577840" y="3200400"/>
            <a:ext cx="1371600" cy="685800"/>
          </a:xfrm>
          <a:prstGeom prst="rect">
            <a:avLst/>
          </a:prstGeom>
          <a:solidFill>
            <a:srgbClr val="D6E5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77840" y="39319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Sage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77840" y="407822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#D6E5D8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223760" y="3200400"/>
            <a:ext cx="1371600" cy="685800"/>
          </a:xfrm>
          <a:prstGeom prst="rect">
            <a:avLst/>
          </a:prstGeom>
          <a:solidFill>
            <a:srgbClr val="FAF5E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23760" y="393192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223760" y="407822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#FAF5EE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CONTRAST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0080" y="4526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Brown on Cream: 14.8:1 WCAG AAA  ·  White on Iroko Green: 6.2:1 WCAG AA  ·  Green on Cream: 6.2:1 WCAG AA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Young Serif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&amp; Headings  ·  Web fallback: Georgia, serif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Warm, distinctive, trustworthy. For headlines and brand statements.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    </a:t>
            </a:r>
            <a:pPr indent="0" marL="0">
              <a:buNone/>
            </a:pPr>
            <a:r>
              <a:rPr lang="en-US" sz="2000" i="1" dirty="0">
                <a:solidFill>
                  <a:srgbClr val="B87D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Editorial  ·  Web fallback: Georgia, serif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5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Sans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Labels &amp; Captions  ·  Web fallback: -apple-system, sans-serif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7863840" cy="0"/>
          </a:xfrm>
          <a:prstGeom prst="line">
            <a:avLst/>
          </a:prstGeom>
          <a:noFill/>
          <a:ln w="6350">
            <a:solidFill>
              <a:srgbClr val="3A2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0" y="3794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669280" y="3794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— Young Serif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4023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26pt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4023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32pt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0080" y="4224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54480" y="4224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Young Serif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4224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669280" y="4224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26pt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0080" y="44256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554480" y="44256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Lora Bold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44256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15pt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669280" y="44256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40080" y="46268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54480" y="46268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— Crimson Pro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46268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669280" y="46268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18pt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008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554480" y="4828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— Instrument Sans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9pt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669280" y="48280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12pt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Direction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conceptual directions for exploration with a professional designer.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54864" cy="960120"/>
          </a:xfrm>
          <a:prstGeom prst="rect">
            <a:avLst/>
          </a:prstGeom>
          <a:solidFill>
            <a:srgbClr val="2D5E4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533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A: The Sheltering Tree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stylised iroko tree with a protective canopy that curves gently, suggesting shade and embrace. Strong trunk, organic leaf forms. Wordmark in Young Serif below.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54864" cy="960120"/>
          </a:xfrm>
          <a:prstGeom prst="rect">
            <a:avLst/>
          </a:prstGeom>
          <a:solidFill>
            <a:srgbClr val="C2734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50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B: The Embracing Figure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abstract figure with arms outstretched forming a tree canopy. Negative space reveals a smaller figure being sheltered. Minimal, symbolic, deeply human.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74720"/>
            <a:ext cx="54864" cy="960120"/>
          </a:xfrm>
          <a:prstGeom prst="rect">
            <a:avLst/>
          </a:prstGeom>
          <a:solidFill>
            <a:srgbClr val="8BAF8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478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C: The Rooted Letters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typographic approach where ‘Big Sister’ is drawn with organic, root-like forms from the baseline. Letterforms become the symbol. West African typographic influence.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61772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USAGE RULES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space: Height of ‘B’ on all sides  ·  Minimum: 24mm print / 80px digital  ·  Colours: Iroko Green, Deep Brown, White  ·  Never: Stretch, rotate, recolour, add effects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Style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image, pattern, and graphic element should make someone feel held — never marketed to.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PHOTOGRAPHY DIRECTION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82880" cy="182880"/>
          </a:xfrm>
          <a:prstGeom prst="ellipse">
            <a:avLst/>
          </a:prstGeom>
          <a:solidFill>
            <a:srgbClr val="2D5E4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Warmth &amp; Natural Light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golden-hour tones. No flash. Moments, not poses.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956816"/>
            <a:ext cx="182880" cy="182880"/>
          </a:xfrm>
          <a:prstGeom prst="ellipse">
            <a:avLst/>
          </a:prstGeom>
          <a:solidFill>
            <a:srgbClr val="2D5E4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5681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60120" y="1938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People, Real Moments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1214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 over staged. Connection: a hand on a shoulder.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" y="2340864"/>
            <a:ext cx="182880" cy="182880"/>
          </a:xfrm>
          <a:prstGeom prst="ellipse">
            <a:avLst/>
          </a:prstGeom>
          <a:solidFill>
            <a:srgbClr val="2D5E4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4086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60120" y="2322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Dignity Always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5054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photograph vulnerability without consent. Show strength, joy.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" y="2724912"/>
            <a:ext cx="182880" cy="182880"/>
          </a:xfrm>
          <a:prstGeom prst="ellipse">
            <a:avLst/>
          </a:prstGeom>
          <a:solidFill>
            <a:srgbClr val="2D5E4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249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60120" y="27066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Nigerian Context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8895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earth. Green canopy. Community life. Rooted in place.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PATTERNS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2468880" cy="914400"/>
          </a:xfrm>
          <a:prstGeom prst="rect">
            <a:avLst/>
          </a:prstGeom>
          <a:solidFill>
            <a:srgbClr val="2D5E4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389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Pattern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37560" y="3429000"/>
            <a:ext cx="2468880" cy="914400"/>
          </a:xfrm>
          <a:prstGeom prst="rect">
            <a:avLst/>
          </a:prstGeom>
          <a:solidFill>
            <a:srgbClr val="D6E5D8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37560" y="4389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Dots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035040" y="3429000"/>
            <a:ext cx="2468880" cy="914400"/>
          </a:xfrm>
          <a:prstGeom prst="rect">
            <a:avLst/>
          </a:prstGeom>
          <a:solidFill>
            <a:srgbClr val="E8C4B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35040" y="4389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Waves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40080" y="466344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PRINCIPLES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08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over geometric  ·  Patterns as textures, never decoration  ·  White space is care  ·  Every choice must answer: does this feel safe and seen?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474720" cy="2011680"/>
          </a:xfrm>
          <a:prstGeom prst="rect">
            <a:avLst/>
          </a:prstGeom>
          <a:solidFill>
            <a:srgbClr val="2D5E4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716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alone.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920240" y="2468880"/>
            <a:ext cx="914400" cy="0"/>
          </a:xfrm>
          <a:prstGeom prst="line">
            <a:avLst/>
          </a:prstGeom>
          <a:noFill/>
          <a:ln w="19050">
            <a:solidFill>
              <a:srgbClr val="D4A9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Sister Foundation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1051560"/>
            <a:ext cx="3474720" cy="2011680"/>
          </a:xfrm>
          <a:prstGeom prst="rect">
            <a:avLst/>
          </a:prstGeom>
          <a:solidFill>
            <a:srgbClr val="E8C4B0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child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deserves to be seen.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4632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bigsisterfoundation.org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897880" y="2606040"/>
            <a:ext cx="365760" cy="320040"/>
          </a:xfrm>
          <a:prstGeom prst="ellipse">
            <a:avLst/>
          </a:prstGeom>
          <a:solidFill>
            <a:srgbClr val="2D5E40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62472" y="2880360"/>
            <a:ext cx="36576" cy="137160"/>
          </a:xfrm>
          <a:prstGeom prst="rect">
            <a:avLst/>
          </a:prstGeom>
          <a:solidFill>
            <a:srgbClr val="3A2A1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warm, text-minimal, brand colours. Never busy or cluttered.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STATIONERY &amp; PRINT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Letterhead: Cream ground, Iroko Green header, logo top-left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cards: Logo on cream front. Iroko Green back, name in serif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Serif headings, warm photography, generous margins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Cream backgrounds, Iroko Green navigation, warm hero photography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signatures: Logo + name (serif) + role (sans) + terracotta accent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49377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platforms: Logo mark as profile image. Brand voice in every caption.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5E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Audience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speak to two groups: those we invest in, and those who invest alongside us.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INVEST IN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468880" cy="45720"/>
          </a:xfrm>
          <a:prstGeom prst="rect">
            <a:avLst/>
          </a:prstGeom>
          <a:solidFill>
            <a:srgbClr val="2D5E4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Difficult Backgrounds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5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mums, survivors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2194560" cy="0"/>
          </a:xfrm>
          <a:prstGeom prst="line">
            <a:avLst/>
          </a:prstGeom>
          <a:noFill/>
          <a:ln w="3810">
            <a:solidFill>
              <a:srgbClr val="2D5E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1168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NEED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Food. Shelter support.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Counselling. Presence.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83280" y="14173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417320"/>
            <a:ext cx="2468880" cy="45720"/>
          </a:xfrm>
          <a:prstGeom prst="rect">
            <a:avLst/>
          </a:prstGeom>
          <a:solidFill>
            <a:srgbClr val="C2734C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5544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 Needs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20440" y="17556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with disabilities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520440" y="1965960"/>
            <a:ext cx="2194560" cy="0"/>
          </a:xfrm>
          <a:prstGeom prst="line">
            <a:avLst/>
          </a:prstGeom>
          <a:noFill/>
          <a:ln w="3810">
            <a:solidFill>
              <a:srgbClr val="C273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01168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NEED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5204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education. Therapy.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Inclusion. Dignity.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417320"/>
            <a:ext cx="2468880" cy="45720"/>
          </a:xfrm>
          <a:prstGeom prst="rect">
            <a:avLst/>
          </a:prstGeom>
          <a:solidFill>
            <a:srgbClr val="8BAF8E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5544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Gifted Potential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7556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High-performing students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263640" y="1965960"/>
            <a:ext cx="2194560" cy="0"/>
          </a:xfrm>
          <a:prstGeom prst="line">
            <a:avLst/>
          </a:prstGeom>
          <a:noFill/>
          <a:ln w="3810">
            <a:solidFill>
              <a:srgbClr val="8BAF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01168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B8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NEED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2636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Scholarships. Mentorship.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Opportunity. Growth.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30632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INVESTS ALONGSIDE US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40080" y="3291840"/>
            <a:ext cx="2468880" cy="960120"/>
          </a:xfrm>
          <a:prstGeom prst="rect">
            <a:avLst/>
          </a:prstGeom>
          <a:solidFill>
            <a:srgbClr val="D4A96A">
              <a:alpha val="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291840"/>
            <a:ext cx="2468880" cy="45720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401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dollar traced.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ledger. Full visibility.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83280" y="3291840"/>
            <a:ext cx="2468880" cy="960120"/>
          </a:xfrm>
          <a:prstGeom prst="rect">
            <a:avLst/>
          </a:prstGeom>
          <a:solidFill>
            <a:srgbClr val="2D5E40">
              <a:alpha val="7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83280" y="3291840"/>
            <a:ext cx="2468880" cy="45720"/>
          </a:xfrm>
          <a:prstGeom prst="rect">
            <a:avLst/>
          </a:prstGeom>
          <a:solidFill>
            <a:srgbClr val="2D5E40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401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Volunteers &amp; Mentors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Service, not saviorism.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Big-sister types.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3291840"/>
            <a:ext cx="2468880" cy="960120"/>
          </a:xfrm>
          <a:prstGeom prst="rect">
            <a:avLst/>
          </a:prstGeom>
          <a:solidFill>
            <a:srgbClr val="C2734C">
              <a:alpha val="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126480" y="3291840"/>
            <a:ext cx="2468880" cy="45720"/>
          </a:xfrm>
          <a:prstGeom prst="rect">
            <a:avLst/>
          </a:prstGeom>
          <a:solidFill>
            <a:srgbClr val="C2734C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3401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Partners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responsibility.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accountability.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0080" y="4434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27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4008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 first  →  Africa next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communities across economic classes A through D.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5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Sister Foundation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840480" y="2606040"/>
            <a:ext cx="1463040" cy="0"/>
          </a:xfrm>
          <a:prstGeom prst="line">
            <a:avLst/>
          </a:prstGeom>
          <a:noFill/>
          <a:ln w="25400">
            <a:solidFill>
              <a:srgbClr val="D4A9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Rooted. Present. Protective.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43400" y="3383280"/>
            <a:ext cx="457200" cy="411480"/>
          </a:xfrm>
          <a:prstGeom prst="ellipse">
            <a:avLst/>
          </a:prstGeom>
          <a:solidFill>
            <a:srgbClr val="8BAF8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53712" y="3749040"/>
            <a:ext cx="36576" cy="182880"/>
          </a:xfrm>
          <a:prstGeom prst="rect">
            <a:avLst/>
          </a:prstGeom>
          <a:solidFill>
            <a:srgbClr val="3A2A1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0" y="43891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bigsisterfoundation.org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45720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Lagos, Nigeria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Sister Foundation — Brand Identity Guide</dc:title>
  <dc:subject>PptxGenJS Presentation</dc:subject>
  <dc:creator>Big Sister Foundation</dc:creator>
  <cp:lastModifiedBy>Big Sister Foundation</cp:lastModifiedBy>
  <cp:revision>1</cp:revision>
  <dcterms:created xsi:type="dcterms:W3CDTF">2026-03-30T18:23:07Z</dcterms:created>
  <dcterms:modified xsi:type="dcterms:W3CDTF">2026-03-30T18:23:07Z</dcterms:modified>
</cp:coreProperties>
</file>